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4711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726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1500"/>
            <a:ext cx="4629150" cy="2194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Software Design Patterns:</a:t>
            </a:r>
            <a:r>
              <a:rPr lang="en-US" sz="3294" b="1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3294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Do They Actually Work?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28625" y="2980283"/>
            <a:ext cx="4629150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2" b="1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Empirical Research Deep-Dive into Code Quality, Maintainability &amp; the Rise of AOP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4226086"/>
            <a:ext cx="4629150" cy="37504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8A74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Based on three landmark studies spanning 18+ years of software engineering research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0" y="0"/>
            <a:ext cx="3657600" cy="5172633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0" y="0"/>
            <a:ext cx="7144" cy="5172633"/>
          </a:xfrm>
          <a:prstGeom prst="rect">
            <a:avLst/>
          </a:prstGeom>
          <a:solidFill>
            <a:srgbClr val="0366D6"/>
          </a:solidFill>
          <a:ln/>
        </p:spPr>
      </p:sp>
      <p:sp>
        <p:nvSpPr>
          <p:cNvPr id="8" name="Text 5"/>
          <p:cNvSpPr/>
          <p:nvPr/>
        </p:nvSpPr>
        <p:spPr>
          <a:xfrm>
            <a:off x="6382941" y="1573690"/>
            <a:ext cx="1864519" cy="2025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24292E">
                    <a:alpha val="3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{</a:t>
            </a:r>
            <a:endParaRPr lang="en-US" sz="1269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24292E">
                    <a:alpha val="3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"quality": true,</a:t>
            </a:r>
            <a:endParaRPr lang="en-US" sz="1269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24292E">
                    <a:alpha val="3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"patterns": [</a:t>
            </a:r>
            <a:endParaRPr lang="en-US" sz="1269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24292E">
                    <a:alpha val="3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"Strategy",</a:t>
            </a:r>
            <a:endParaRPr lang="en-US" sz="1269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24292E">
                    <a:alpha val="3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  "Observer"</a:t>
            </a:r>
            <a:endParaRPr lang="en-US" sz="1269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24292E">
                    <a:alpha val="3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  ]</a:t>
            </a:r>
            <a:endParaRPr lang="en-US" sz="1269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24292E">
                    <a:alpha val="3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1269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8580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Design Patterns Promise Quality — But Does the Evidence Agree?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543050"/>
            <a:ext cx="314325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193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patterns (popularized by the "Gang of Four" in 1994) are reusable solutions to recurring software design problems.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428625" y="2783160"/>
            <a:ext cx="3143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promise benefits like reusability, maintainability, and reduced complexity. But do they deliver in practice?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28625" y="3970530"/>
            <a:ext cx="3143250" cy="887220"/>
          </a:xfrm>
          <a:prstGeom prst="rect">
            <a:avLst/>
          </a:prstGeom>
          <a:solidFill>
            <a:srgbClr val="28A745">
              <a:alpha val="5000"/>
            </a:srgbClr>
          </a:solidFill>
          <a:ln w="9144">
            <a:solidFill>
              <a:srgbClr val="28A745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571500" y="4127692"/>
            <a:ext cx="2857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8A74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SOURCES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571500" y="4349148"/>
            <a:ext cx="28575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peer-reviewed studies synthesizing 18+ years of empirical software engineering research.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000500" y="1543050"/>
            <a:ext cx="4714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Three research questions this presentation answers: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000500" y="2057400"/>
            <a:ext cx="5500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366D6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01</a:t>
            </a:r>
            <a:endParaRPr lang="en-US" sz="3294" dirty="0"/>
          </a:p>
        </p:txBody>
      </p:sp>
      <p:sp>
        <p:nvSpPr>
          <p:cNvPr id="11" name="Text 8"/>
          <p:cNvSpPr/>
          <p:nvPr/>
        </p:nvSpPr>
        <p:spPr>
          <a:xfrm>
            <a:off x="4764881" y="2057400"/>
            <a:ext cx="3950494" cy="542925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design patterns measurably improve code quality in real-world systems?</a:t>
            </a:r>
            <a:endParaRPr lang="en-US" sz="1159" dirty="0"/>
          </a:p>
        </p:txBody>
      </p:sp>
      <p:sp>
        <p:nvSpPr>
          <p:cNvPr id="12" name="Text 9"/>
          <p:cNvSpPr/>
          <p:nvPr/>
        </p:nvSpPr>
        <p:spPr>
          <a:xfrm>
            <a:off x="4000500" y="2964656"/>
            <a:ext cx="5500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366D6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02</a:t>
            </a:r>
            <a:endParaRPr lang="en-US" sz="3294" dirty="0"/>
          </a:p>
        </p:txBody>
      </p:sp>
      <p:sp>
        <p:nvSpPr>
          <p:cNvPr id="13" name="Text 10"/>
          <p:cNvSpPr/>
          <p:nvPr/>
        </p:nvSpPr>
        <p:spPr>
          <a:xfrm>
            <a:off x="4764881" y="2964656"/>
            <a:ext cx="3950494" cy="542925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what conditions do patterns help — or hurt — maintainability?</a:t>
            </a:r>
            <a:endParaRPr lang="en-US" sz="1159" dirty="0"/>
          </a:p>
        </p:txBody>
      </p:sp>
      <p:sp>
        <p:nvSpPr>
          <p:cNvPr id="14" name="Text 11"/>
          <p:cNvSpPr/>
          <p:nvPr/>
        </p:nvSpPr>
        <p:spPr>
          <a:xfrm>
            <a:off x="4000500" y="3871913"/>
            <a:ext cx="5500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0366D6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03</a:t>
            </a:r>
            <a:endParaRPr lang="en-US" sz="3294" dirty="0"/>
          </a:p>
        </p:txBody>
      </p:sp>
      <p:sp>
        <p:nvSpPr>
          <p:cNvPr id="15" name="Text 12"/>
          <p:cNvSpPr/>
          <p:nvPr/>
        </p:nvSpPr>
        <p:spPr>
          <a:xfrm>
            <a:off x="4764881" y="3871913"/>
            <a:ext cx="3950494" cy="542925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traditional OOP the best way to implement patterns, or is there a better approach?</a:t>
            </a:r>
            <a:endParaRPr lang="en-US" sz="115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8580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Quantitative Evidence Confirms: Design Patterns Reduce Complexity and Boost Maintainability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400175"/>
            <a:ext cx="8286750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quantitative study surveying experienced software developers found strong positive associations between design pattern usage and three core quality dimensions:</a:t>
            </a:r>
            <a:endParaRPr lang="en-US" sz="1159" dirty="0"/>
          </a:p>
        </p:txBody>
      </p:sp>
      <p:sp>
        <p:nvSpPr>
          <p:cNvPr id="5" name="Shape 2"/>
          <p:cNvSpPr/>
          <p:nvPr/>
        </p:nvSpPr>
        <p:spPr>
          <a:xfrm>
            <a:off x="435769" y="2053103"/>
            <a:ext cx="2757488" cy="339328"/>
          </a:xfrm>
          <a:prstGeom prst="rect">
            <a:avLst/>
          </a:prstGeom>
          <a:solidFill>
            <a:srgbClr val="0366D6"/>
          </a:solidFill>
          <a:ln/>
        </p:spPr>
      </p:sp>
      <p:sp>
        <p:nvSpPr>
          <p:cNvPr id="6" name="Text 3"/>
          <p:cNvSpPr/>
          <p:nvPr/>
        </p:nvSpPr>
        <p:spPr>
          <a:xfrm>
            <a:off x="435769" y="2053103"/>
            <a:ext cx="2757488" cy="339328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Quality Dimension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3193256" y="2053103"/>
            <a:ext cx="5514975" cy="339328"/>
          </a:xfrm>
          <a:prstGeom prst="rect">
            <a:avLst/>
          </a:prstGeom>
          <a:solidFill>
            <a:srgbClr val="0366D6"/>
          </a:solidFill>
          <a:ln/>
        </p:spPr>
      </p:sp>
      <p:sp>
        <p:nvSpPr>
          <p:cNvPr id="8" name="Shape 5"/>
          <p:cNvSpPr/>
          <p:nvPr/>
        </p:nvSpPr>
        <p:spPr>
          <a:xfrm>
            <a:off x="3193256" y="2053103"/>
            <a:ext cx="7144" cy="339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3193256" y="2053103"/>
            <a:ext cx="5514975" cy="339328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Impact of Design Patterns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435769" y="2392431"/>
            <a:ext cx="2757488" cy="42326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Complexity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3307556" y="2513874"/>
            <a:ext cx="61614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3923705" y="2513874"/>
            <a:ext cx="278427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patterns manage structural complexity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35769" y="2815698"/>
            <a:ext cx="2757488" cy="42326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Maintainability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3307556" y="2937142"/>
            <a:ext cx="6590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3966567" y="2937142"/>
            <a:ext cx="236279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easier to update, fix, and extend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35769" y="3238965"/>
            <a:ext cx="2757488" cy="41612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Team Communication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3307556" y="3360409"/>
            <a:ext cx="69651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004072" y="3360409"/>
            <a:ext cx="359509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standardized vocabulary for shared understanding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28638" y="4047995"/>
            <a:ext cx="939403" cy="239316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0" name="Text 17"/>
          <p:cNvSpPr/>
          <p:nvPr/>
        </p:nvSpPr>
        <p:spPr>
          <a:xfrm>
            <a:off x="528638" y="4047995"/>
            <a:ext cx="939403" cy="239316"/>
          </a:xfrm>
          <a:prstGeom prst="rect">
            <a:avLst/>
          </a:prstGeom>
          <a:noFill/>
          <a:ln/>
        </p:spPr>
        <p:txBody>
          <a:bodyPr wrap="square" lIns="102108" tIns="42545" rIns="102108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KEY CAVEAT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1582341" y="4047995"/>
            <a:ext cx="703302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Benefits are </a:t>
            </a:r>
            <a:r>
              <a:rPr lang="en-US" sz="987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automatic</a:t>
            </a: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Developer experience and correct application are critical success factors. Misapplied patterns can introduce unnecessary complexity.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8580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Patterns Are Trade-Offs, Not Magic Bullets — Context Determines Outcome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343025"/>
            <a:ext cx="33147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Alghamdi &amp; Qureshi (2014) challenged the assumption that patterns universally improve maintainability. Their findings revealed a more nuanced reality.</a:t>
            </a:r>
            <a:endParaRPr lang="en-US" sz="1159" dirty="0"/>
          </a:p>
        </p:txBody>
      </p:sp>
      <p:sp>
        <p:nvSpPr>
          <p:cNvPr id="5" name="Shape 2"/>
          <p:cNvSpPr/>
          <p:nvPr/>
        </p:nvSpPr>
        <p:spPr>
          <a:xfrm>
            <a:off x="428625" y="2491718"/>
            <a:ext cx="3314700" cy="1164431"/>
          </a:xfrm>
          <a:prstGeom prst="rect">
            <a:avLst/>
          </a:prstGeom>
          <a:solidFill>
            <a:srgbClr val="28A745">
              <a:alpha val="5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2491718"/>
            <a:ext cx="28575" cy="1164431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7" name="Text 4"/>
          <p:cNvSpPr/>
          <p:nvPr/>
        </p:nvSpPr>
        <p:spPr>
          <a:xfrm>
            <a:off x="514350" y="2577443"/>
            <a:ext cx="31432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i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"Patterns are most effective in systems intended for heavy reuse or long-term maintenance."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514350" y="3420405"/>
            <a:ext cx="31432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8A74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Alghamdi &amp; Qureshi, 2014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100513" y="1414463"/>
            <a:ext cx="2043113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TRADE-OFFS_ARE_INEVITABLE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100513" y="1846659"/>
            <a:ext cx="2043113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pattern adds abstraction layers. </a:t>
            </a:r>
            <a:r>
              <a:rPr lang="en-US" sz="987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Reusability gains</a:t>
            </a: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must be weighed against </a:t>
            </a:r>
            <a:r>
              <a:rPr lang="en-US" sz="987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 complexity</a:t>
            </a: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29375" y="1414463"/>
            <a:ext cx="247173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SYSTEM_SIZE_MATTERS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6429375" y="1659136"/>
            <a:ext cx="2471738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deliver the most value in </a:t>
            </a:r>
            <a:r>
              <a:rPr lang="en-US" sz="987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 systems</a:t>
            </a: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intended for long-term maintenance and heavy reuse.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100513" y="3211116"/>
            <a:ext cx="2043113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EXPERTISE_IS_PARAMOUNT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4100513" y="3455789"/>
            <a:ext cx="2043113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expertise is the </a:t>
            </a:r>
            <a:r>
              <a:rPr lang="en-US" sz="987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 factor</a:t>
            </a: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Inexperienced developers applying patterns can worsen code quality through misuse.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29375" y="3211116"/>
            <a:ext cx="247173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OBJECTIVE_METRICS_ESSENTIAL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6429375" y="3455789"/>
            <a:ext cx="2471738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measurable predictors before committing to a pattern:
</a:t>
            </a:r>
            <a:r>
              <a:rPr lang="en-US" sz="834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DIT</a:t>
            </a: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(Depth of Inheritance Tree) </a:t>
            </a:r>
            <a:r>
              <a:rPr lang="en-US" sz="834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NOC</a:t>
            </a: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(Number of Children) </a:t>
            </a:r>
            <a:r>
              <a:rPr lang="en-US" sz="834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MPC</a:t>
            </a: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(Message-Passing Coupling)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35650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Systematic Literature Review Reveals What Studies Miss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400175"/>
            <a:ext cx="8286750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Wedyan &amp; Abufakher (2020) synthesized </a:t>
            </a:r>
            <a:r>
              <a:rPr lang="en-US" sz="1090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primary studies across 18 years</a:t>
            </a:r>
            <a:r>
              <a:rPr lang="en-US" sz="1159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resolve contradictory findings. Their "big picture" conclusions:</a:t>
            </a:r>
            <a:endParaRPr lang="en-US" sz="1159" dirty="0"/>
          </a:p>
        </p:txBody>
      </p:sp>
      <p:sp>
        <p:nvSpPr>
          <p:cNvPr id="5" name="Shape 2"/>
          <p:cNvSpPr/>
          <p:nvPr/>
        </p:nvSpPr>
        <p:spPr>
          <a:xfrm>
            <a:off x="428625" y="2167404"/>
            <a:ext cx="2619384" cy="2653250"/>
          </a:xfrm>
          <a:prstGeom prst="rect">
            <a:avLst/>
          </a:prstGeom>
          <a:solidFill>
            <a:srgbClr val="FCFCFC"/>
          </a:solidFill>
          <a:ln w="9144">
            <a:solidFill>
              <a:srgbClr val="0366D6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642938" y="2381715"/>
            <a:ext cx="2181216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28A74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FINDING 01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642938" y="2676395"/>
            <a:ext cx="2181216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Documentation is a Force Multiplier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642938" y="3265029"/>
            <a:ext cx="2181216" cy="16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Explicitly commenting pattern instances (e.g., </a:t>
            </a:r>
            <a:r>
              <a:rPr lang="en-US" sz="834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Strategy Pattern</a:t>
            </a:r>
            <a:r>
              <a:rPr lang="en-US" sz="942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significantly reduces maintenance time and errors. Without documentation, even perfect code loses its quality benefits when the next developer can't recognize the pattern.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3252778" y="2167403"/>
            <a:ext cx="2624128" cy="2653251"/>
          </a:xfrm>
          <a:prstGeom prst="rect">
            <a:avLst/>
          </a:prstGeom>
          <a:solidFill>
            <a:srgbClr val="FCFCFC"/>
          </a:solidFill>
          <a:ln w="9144">
            <a:solidFill>
              <a:srgbClr val="0366D6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3471863" y="2381715"/>
            <a:ext cx="21859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28A74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FINDING 02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3471863" y="2676395"/>
            <a:ext cx="2185988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Standard Measurement Exists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3471863" y="3265029"/>
            <a:ext cx="2185988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studies use different metrics (bug counts, time-to-change, fault-proneness). When a paper claims a pattern "improves quality," always ask: </a:t>
            </a:r>
            <a:r>
              <a:rPr lang="en-US" sz="942" i="1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exactly was quality measured?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6086475" y="2167403"/>
            <a:ext cx="2628900" cy="2653251"/>
          </a:xfrm>
          <a:prstGeom prst="rect">
            <a:avLst/>
          </a:prstGeom>
          <a:solidFill>
            <a:srgbClr val="FCFCFC"/>
          </a:solidFill>
          <a:ln w="9144">
            <a:solidFill>
              <a:srgbClr val="0366D6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6310331" y="2381715"/>
            <a:ext cx="2190759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28A74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FINDING 03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6310331" y="2676395"/>
            <a:ext cx="2190759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3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AOP Offers a Superior Implementation Path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6310331" y="3265029"/>
            <a:ext cx="2190759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OOP pattern implementations often cause "code tangling." Aspect-Oriented Programming (AOP) emerges as a promising solution to separate concerns and improve modularity.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800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Developer Expertise Is the Most Consistent Predictor of Pattern Success Across All Three Studies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394427"/>
            <a:ext cx="3314700" cy="707231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three research papers converge on a single critical insight: the human factor outweighs the pattern itself.</a:t>
            </a:r>
            <a:endParaRPr lang="en-US" sz="1090" dirty="0"/>
          </a:p>
        </p:txBody>
      </p:sp>
      <p:sp>
        <p:nvSpPr>
          <p:cNvPr id="5" name="Shape 2"/>
          <p:cNvSpPr/>
          <p:nvPr/>
        </p:nvSpPr>
        <p:spPr>
          <a:xfrm>
            <a:off x="428625" y="2315970"/>
            <a:ext cx="3314700" cy="1117997"/>
          </a:xfrm>
          <a:prstGeom prst="rect">
            <a:avLst/>
          </a:prstGeom>
          <a:solidFill>
            <a:srgbClr val="28A745">
              <a:alpha val="5000"/>
            </a:srgbClr>
          </a:solidFill>
          <a:ln w="9144">
            <a:solidFill>
              <a:srgbClr val="28A745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571500" y="2458845"/>
            <a:ext cx="30289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8A74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PRACTICAL IMPLICATION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2698161"/>
            <a:ext cx="30289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Organizations should invest in pattern education and code review processes. Deploying patterns without developer training is counterproductive.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428625" y="3633992"/>
            <a:ext cx="3314700" cy="1117997"/>
          </a:xfrm>
          <a:prstGeom prst="rect">
            <a:avLst/>
          </a:prstGeom>
          <a:solidFill>
            <a:srgbClr val="0366D6">
              <a:alpha val="5000"/>
            </a:srgbClr>
          </a:solidFill>
          <a:ln w="9144">
            <a:solidFill>
              <a:srgbClr val="0366D6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571500" y="3776867"/>
            <a:ext cx="30289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DECISION FRAMEWORK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571500" y="4016183"/>
            <a:ext cx="30289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objective metrics (DIT, NOC, MPC) to evaluate pattern impact before full implementation — don't rely on intuition alone.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4107656" y="1473008"/>
            <a:ext cx="1514475" cy="382191"/>
          </a:xfrm>
          <a:prstGeom prst="rect">
            <a:avLst/>
          </a:prstGeom>
          <a:solidFill>
            <a:srgbClr val="0366D6"/>
          </a:solidFill>
          <a:ln/>
        </p:spPr>
      </p:sp>
      <p:sp>
        <p:nvSpPr>
          <p:cNvPr id="12" name="Text 9"/>
          <p:cNvSpPr/>
          <p:nvPr/>
        </p:nvSpPr>
        <p:spPr>
          <a:xfrm>
            <a:off x="4107656" y="1473008"/>
            <a:ext cx="1514475" cy="38219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Developer Level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5622131" y="1473008"/>
            <a:ext cx="3028950" cy="382191"/>
          </a:xfrm>
          <a:prstGeom prst="rect">
            <a:avLst/>
          </a:prstGeom>
          <a:solidFill>
            <a:srgbClr val="0366D6"/>
          </a:solidFill>
          <a:ln/>
        </p:spPr>
      </p:sp>
      <p:sp>
        <p:nvSpPr>
          <p:cNvPr id="14" name="Shape 11"/>
          <p:cNvSpPr/>
          <p:nvPr/>
        </p:nvSpPr>
        <p:spPr>
          <a:xfrm>
            <a:off x="5622131" y="1473008"/>
            <a:ext cx="7144" cy="382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5622131" y="1473008"/>
            <a:ext cx="3028950" cy="38219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Likely Outcome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4107656" y="1855198"/>
            <a:ext cx="1514475" cy="1007269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Expert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5765006" y="2033792"/>
            <a:ext cx="10001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applied correctly →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765131" y="2140948"/>
            <a:ext cx="77509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366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complexity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7540228" y="2140948"/>
            <a:ext cx="96797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better maintainability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107656" y="2862467"/>
            <a:ext cx="1514475" cy="792956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Intermediate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5622131" y="2862467"/>
            <a:ext cx="3028950" cy="792956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applied partially → mixed results, some benefit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107656" y="3655423"/>
            <a:ext cx="1514475" cy="1000125"/>
          </a:xfrm>
          <a:prstGeom prst="rect">
            <a:avLst/>
          </a:prstGeom>
          <a:noFill/>
          <a:ln/>
        </p:spPr>
        <p:txBody>
          <a:bodyPr wrap="square" lIns="170053" tIns="212598" rIns="170053" bIns="212598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Novice</a:t>
            </a:r>
            <a:endParaRPr lang="en-US" sz="1090" dirty="0"/>
          </a:p>
        </p:txBody>
      </p:sp>
      <p:sp>
        <p:nvSpPr>
          <p:cNvPr id="23" name="Text 20"/>
          <p:cNvSpPr/>
          <p:nvPr/>
        </p:nvSpPr>
        <p:spPr>
          <a:xfrm>
            <a:off x="5765006" y="3834017"/>
            <a:ext cx="89196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misapplied →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656970" y="3941173"/>
            <a:ext cx="88459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increased complexity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7541568" y="3941173"/>
            <a:ext cx="96663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potential "code smells"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21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8580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AOP Solves the "Code Tangling" Problem That Traditional OOP Cannot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400175"/>
            <a:ext cx="3604357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traditional OOP, cross-cutting concerns (logging, security, transaction management) scatter across many classes — this is </a:t>
            </a:r>
            <a:r>
              <a:rPr lang="en-US" sz="1090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"code tangling"</a:t>
            </a:r>
            <a:r>
              <a:rPr lang="en-US" sz="1159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090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"code scattering."</a:t>
            </a:r>
            <a:endParaRPr lang="en-US" sz="1159" dirty="0"/>
          </a:p>
        </p:txBody>
      </p:sp>
      <p:sp>
        <p:nvSpPr>
          <p:cNvPr id="5" name="Text 2"/>
          <p:cNvSpPr/>
          <p:nvPr/>
        </p:nvSpPr>
        <p:spPr>
          <a:xfrm>
            <a:off x="428625" y="2620305"/>
            <a:ext cx="3604357" cy="502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090" b="1" dirty="0">
                <a:solidFill>
                  <a:srgbClr val="0366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AOP separates these concerns into dedicated modules called Aspects.</a:t>
            </a:r>
            <a:endParaRPr lang="en-US" sz="1090" dirty="0"/>
          </a:p>
        </p:txBody>
      </p:sp>
      <p:sp>
        <p:nvSpPr>
          <p:cNvPr id="6" name="Shape 3"/>
          <p:cNvSpPr/>
          <p:nvPr/>
        </p:nvSpPr>
        <p:spPr>
          <a:xfrm>
            <a:off x="428625" y="3337527"/>
            <a:ext cx="3604357" cy="1026914"/>
          </a:xfrm>
          <a:prstGeom prst="rect">
            <a:avLst/>
          </a:prstGeom>
          <a:solidFill>
            <a:srgbClr val="28A745">
              <a:alpha val="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3337527"/>
            <a:ext cx="28575" cy="1026914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3480402"/>
            <a:ext cx="331860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8A74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THE CORE IDEA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71500" y="3701858"/>
            <a:ext cx="271641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behavior once in an Aspect, then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571500" y="3875094"/>
            <a:ext cx="318432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"weave" it into the codebase wherever needed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571500" y="4048330"/>
            <a:ext cx="279856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without modifying the original classes.</a:t>
            </a:r>
            <a:endParaRPr lang="en-US" sz="987" dirty="0"/>
          </a:p>
        </p:txBody>
      </p:sp>
      <p:sp>
        <p:nvSpPr>
          <p:cNvPr id="12" name="Shape 9"/>
          <p:cNvSpPr/>
          <p:nvPr/>
        </p:nvSpPr>
        <p:spPr>
          <a:xfrm>
            <a:off x="4397313" y="1407319"/>
            <a:ext cx="1231683" cy="382191"/>
          </a:xfrm>
          <a:prstGeom prst="rect">
            <a:avLst/>
          </a:prstGeom>
          <a:solidFill>
            <a:srgbClr val="0366D6"/>
          </a:solidFill>
          <a:ln/>
        </p:spPr>
      </p:sp>
      <p:sp>
        <p:nvSpPr>
          <p:cNvPr id="13" name="Text 10"/>
          <p:cNvSpPr/>
          <p:nvPr/>
        </p:nvSpPr>
        <p:spPr>
          <a:xfrm>
            <a:off x="4397313" y="1407319"/>
            <a:ext cx="1231683" cy="38219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AOP Concept</a:t>
            </a:r>
            <a:endParaRPr lang="en-US" sz="885" dirty="0"/>
          </a:p>
        </p:txBody>
      </p:sp>
      <p:sp>
        <p:nvSpPr>
          <p:cNvPr id="14" name="Shape 11"/>
          <p:cNvSpPr/>
          <p:nvPr/>
        </p:nvSpPr>
        <p:spPr>
          <a:xfrm>
            <a:off x="5628996" y="1407319"/>
            <a:ext cx="3079235" cy="382191"/>
          </a:xfrm>
          <a:prstGeom prst="rect">
            <a:avLst/>
          </a:prstGeom>
          <a:solidFill>
            <a:srgbClr val="0366D6"/>
          </a:solidFill>
          <a:ln/>
        </p:spPr>
      </p:sp>
      <p:sp>
        <p:nvSpPr>
          <p:cNvPr id="15" name="Shape 12"/>
          <p:cNvSpPr/>
          <p:nvPr/>
        </p:nvSpPr>
        <p:spPr>
          <a:xfrm>
            <a:off x="5628996" y="1407319"/>
            <a:ext cx="7144" cy="38219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628996" y="1407319"/>
            <a:ext cx="3079235" cy="382191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Definition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397313" y="1789509"/>
            <a:ext cx="1231683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Aspect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5628996" y="1789509"/>
            <a:ext cx="3079235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module encapsulating a cross-cutting concern (e.g., a Logging Aspect)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397313" y="2468166"/>
            <a:ext cx="1231683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Join Point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5628996" y="2468166"/>
            <a:ext cx="3079235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specific execution point — a method call, exception, or field access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4397313" y="3146822"/>
            <a:ext cx="1231683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Advice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5628996" y="3146822"/>
            <a:ext cx="3079235" cy="678656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action taken at a join point (e.g., "log before this method runs")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4397313" y="3825478"/>
            <a:ext cx="1231683" cy="67151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Pointcut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5771871" y="3968353"/>
            <a:ext cx="2658424" cy="36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that match join points — determines where advice is applied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401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8580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AOP Eliminates Pattern Pollution From Business Logic — A Concrete Comparison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1328738"/>
            <a:ext cx="8286750" cy="332184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328738"/>
            <a:ext cx="28575" cy="332184"/>
          </a:xfrm>
          <a:prstGeom prst="rect">
            <a:avLst/>
          </a:prstGeom>
          <a:solidFill>
            <a:srgbClr val="24292E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1328738"/>
            <a:ext cx="8286750" cy="332184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Scenario: A Payment Processor that switches between Normal, Discount, and VIP pricing strategies.</a:t>
            </a:r>
            <a:endParaRPr lang="en-US" sz="1090" dirty="0"/>
          </a:p>
        </p:txBody>
      </p:sp>
      <p:sp>
        <p:nvSpPr>
          <p:cNvPr id="7" name="Shape 4"/>
          <p:cNvSpPr/>
          <p:nvPr/>
        </p:nvSpPr>
        <p:spPr>
          <a:xfrm>
            <a:off x="521494" y="1839516"/>
            <a:ext cx="2596753" cy="367903"/>
          </a:xfrm>
          <a:prstGeom prst="rect">
            <a:avLst/>
          </a:prstGeom>
          <a:solidFill>
            <a:srgbClr val="0366D6"/>
          </a:solidFill>
          <a:ln/>
        </p:spPr>
      </p:sp>
      <p:sp>
        <p:nvSpPr>
          <p:cNvPr id="8" name="Text 5"/>
          <p:cNvSpPr/>
          <p:nvPr/>
        </p:nvSpPr>
        <p:spPr>
          <a:xfrm>
            <a:off x="521494" y="1839516"/>
            <a:ext cx="2596753" cy="36790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Traditional OOP Problem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521494" y="2319933"/>
            <a:ext cx="30182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23317" y="2318147"/>
            <a:ext cx="1160859" cy="196453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1" name="Text 8"/>
          <p:cNvSpPr/>
          <p:nvPr/>
        </p:nvSpPr>
        <p:spPr>
          <a:xfrm>
            <a:off x="823317" y="2318147"/>
            <a:ext cx="1160859" cy="19645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OrderProcessor</a:t>
            </a: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1984177" y="2319933"/>
            <a:ext cx="233600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must hold a reference to the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21494" y="2546747"/>
            <a:ext cx="1237655" cy="196453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4" name="Text 11"/>
          <p:cNvSpPr/>
          <p:nvPr/>
        </p:nvSpPr>
        <p:spPr>
          <a:xfrm>
            <a:off x="521494" y="2546747"/>
            <a:ext cx="1237655" cy="19645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PaymentStrategy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1759148" y="2548533"/>
            <a:ext cx="185737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interface, manage strategy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2483" y="2827447"/>
            <a:ext cx="3306996" cy="2086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switching, and contain logic for when to apply each strategy.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21494" y="3293269"/>
            <a:ext cx="38147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D73A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business logic is "polluted" with pattern management code.</a:t>
            </a:r>
            <a:endParaRPr lang="en-US" sz="987" dirty="0"/>
          </a:p>
        </p:txBody>
      </p:sp>
      <p:sp>
        <p:nvSpPr>
          <p:cNvPr id="21" name="Shape 18"/>
          <p:cNvSpPr/>
          <p:nvPr/>
        </p:nvSpPr>
        <p:spPr>
          <a:xfrm>
            <a:off x="4807744" y="1839516"/>
            <a:ext cx="1457325" cy="367903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2" name="Text 19"/>
          <p:cNvSpPr/>
          <p:nvPr/>
        </p:nvSpPr>
        <p:spPr>
          <a:xfrm>
            <a:off x="4807744" y="1839516"/>
            <a:ext cx="1457325" cy="36790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AOP Solution</a:t>
            </a:r>
            <a:endParaRPr lang="en-US" sz="1193" dirty="0"/>
          </a:p>
        </p:txBody>
      </p:sp>
      <p:sp>
        <p:nvSpPr>
          <p:cNvPr id="23" name="Text 20"/>
          <p:cNvSpPr/>
          <p:nvPr/>
        </p:nvSpPr>
        <p:spPr>
          <a:xfrm>
            <a:off x="4807744" y="2319933"/>
            <a:ext cx="30182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109567" y="2318147"/>
            <a:ext cx="1160859" cy="196453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25" name="Text 22"/>
          <p:cNvSpPr/>
          <p:nvPr/>
        </p:nvSpPr>
        <p:spPr>
          <a:xfrm>
            <a:off x="5109567" y="2318147"/>
            <a:ext cx="1160859" cy="19645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OrderProcessor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6270427" y="2319933"/>
            <a:ext cx="213598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completely clean — it has no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807744" y="2548533"/>
            <a:ext cx="2824491" cy="2086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that a Strategy pattern exists. An </a:t>
            </a:r>
            <a:r>
              <a:rPr lang="en-US" sz="1050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Aspect</a:t>
            </a:r>
            <a:endParaRPr lang="en-US" sz="1050" b="1" dirty="0"/>
          </a:p>
        </p:txBody>
      </p:sp>
      <p:sp>
        <p:nvSpPr>
          <p:cNvPr id="29" name="Text 26"/>
          <p:cNvSpPr/>
          <p:nvPr/>
        </p:nvSpPr>
        <p:spPr>
          <a:xfrm>
            <a:off x="4807744" y="2777133"/>
            <a:ext cx="3721894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intercepts method calls and injects the correct strategy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807744" y="3005733"/>
            <a:ext cx="145375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user status.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807744" y="3293269"/>
            <a:ext cx="38147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28A7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Adding a new "Holiday Sale" strategy requires only updating the Aspect — zero changes to core business code.</a:t>
            </a:r>
            <a:endParaRPr lang="en-US" sz="987" dirty="0"/>
          </a:p>
        </p:txBody>
      </p:sp>
      <p:sp>
        <p:nvSpPr>
          <p:cNvPr id="32" name="Shape 29"/>
          <p:cNvSpPr/>
          <p:nvPr/>
        </p:nvSpPr>
        <p:spPr>
          <a:xfrm>
            <a:off x="428625" y="4664869"/>
            <a:ext cx="8286750" cy="407194"/>
          </a:xfrm>
          <a:prstGeom prst="rect">
            <a:avLst/>
          </a:prstGeom>
          <a:solidFill>
            <a:srgbClr val="0366D6">
              <a:alpha val="5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28625" y="4664869"/>
            <a:ext cx="28575" cy="407194"/>
          </a:xfrm>
          <a:prstGeom prst="rect">
            <a:avLst/>
          </a:prstGeom>
          <a:solidFill>
            <a:srgbClr val="0366D6"/>
          </a:solidFill>
          <a:ln/>
        </p:spPr>
      </p:sp>
      <p:sp>
        <p:nvSpPr>
          <p:cNvPr id="34" name="Text 31"/>
          <p:cNvSpPr/>
          <p:nvPr/>
        </p:nvSpPr>
        <p:spPr>
          <a:xfrm>
            <a:off x="571500" y="4773811"/>
            <a:ext cx="40362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i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</a:t>
            </a:r>
            <a:endParaRPr lang="en-US" sz="1159" dirty="0"/>
          </a:p>
        </p:txBody>
      </p:sp>
      <p:sp>
        <p:nvSpPr>
          <p:cNvPr id="35" name="Shape 32"/>
          <p:cNvSpPr/>
          <p:nvPr/>
        </p:nvSpPr>
        <p:spPr>
          <a:xfrm>
            <a:off x="975122" y="4784527"/>
            <a:ext cx="1160859" cy="196453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36" name="Text 33"/>
          <p:cNvSpPr/>
          <p:nvPr/>
        </p:nvSpPr>
        <p:spPr>
          <a:xfrm>
            <a:off x="975122" y="4784527"/>
            <a:ext cx="1160859" cy="19645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D73A49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OrderProcessor</a:t>
            </a:r>
            <a:endParaRPr lang="en-US" sz="942" dirty="0"/>
          </a:p>
        </p:txBody>
      </p:sp>
      <p:sp>
        <p:nvSpPr>
          <p:cNvPr id="37" name="Text 34"/>
          <p:cNvSpPr/>
          <p:nvPr/>
        </p:nvSpPr>
        <p:spPr>
          <a:xfrm>
            <a:off x="2135981" y="4773811"/>
            <a:ext cx="60114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i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100% decoupled. Remove the Aspect, and the core code still works perfectly."</a:t>
            </a:r>
            <a:endParaRPr lang="en-US" sz="115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800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AOP Delivers Decoupling, Clean Logic, and Centralized Policy — OOP Cannot Match This at Scale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35769" y="1330133"/>
            <a:ext cx="2068116" cy="339328"/>
          </a:xfrm>
          <a:prstGeom prst="rect">
            <a:avLst/>
          </a:prstGeom>
          <a:solidFill>
            <a:srgbClr val="0366D6"/>
          </a:solidFill>
          <a:ln/>
        </p:spPr>
      </p:sp>
      <p:sp>
        <p:nvSpPr>
          <p:cNvPr id="5" name="Text 2"/>
          <p:cNvSpPr/>
          <p:nvPr/>
        </p:nvSpPr>
        <p:spPr>
          <a:xfrm>
            <a:off x="435769" y="1330133"/>
            <a:ext cx="2068116" cy="339328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Dimension</a:t>
            </a:r>
            <a:endParaRPr lang="en-US" sz="885" dirty="0"/>
          </a:p>
        </p:txBody>
      </p:sp>
      <p:sp>
        <p:nvSpPr>
          <p:cNvPr id="6" name="Shape 3"/>
          <p:cNvSpPr/>
          <p:nvPr/>
        </p:nvSpPr>
        <p:spPr>
          <a:xfrm>
            <a:off x="2503884" y="1330133"/>
            <a:ext cx="3102173" cy="339328"/>
          </a:xfrm>
          <a:prstGeom prst="rect">
            <a:avLst/>
          </a:prstGeom>
          <a:solidFill>
            <a:srgbClr val="0366D6"/>
          </a:solidFill>
          <a:ln/>
        </p:spPr>
      </p:sp>
      <p:sp>
        <p:nvSpPr>
          <p:cNvPr id="7" name="Shape 4"/>
          <p:cNvSpPr/>
          <p:nvPr/>
        </p:nvSpPr>
        <p:spPr>
          <a:xfrm>
            <a:off x="2503884" y="1330133"/>
            <a:ext cx="7144" cy="339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2503884" y="1330133"/>
            <a:ext cx="3102173" cy="339328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Traditional OOP</a:t>
            </a:r>
            <a:endParaRPr lang="en-US" sz="885" dirty="0"/>
          </a:p>
        </p:txBody>
      </p:sp>
      <p:sp>
        <p:nvSpPr>
          <p:cNvPr id="9" name="Shape 6"/>
          <p:cNvSpPr/>
          <p:nvPr/>
        </p:nvSpPr>
        <p:spPr>
          <a:xfrm>
            <a:off x="5606058" y="1330133"/>
            <a:ext cx="3102173" cy="33932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Shape 7"/>
          <p:cNvSpPr/>
          <p:nvPr/>
        </p:nvSpPr>
        <p:spPr>
          <a:xfrm>
            <a:off x="5606058" y="1330133"/>
            <a:ext cx="7144" cy="339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5606058" y="1330133"/>
            <a:ext cx="3102173" cy="339328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AOP Implementation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435769" y="1669461"/>
            <a:ext cx="2068116" cy="4014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Coupling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2503884" y="1669461"/>
            <a:ext cx="3102173" cy="4014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coupled to Strategy interface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606058" y="1669461"/>
            <a:ext cx="3102173" cy="4014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8A7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 100% decoupled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35769" y="2070934"/>
            <a:ext cx="2068116" cy="4014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Code Tangling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2503884" y="2070934"/>
            <a:ext cx="3102173" cy="4014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 logic mixed with business logic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5606058" y="2070934"/>
            <a:ext cx="3102173" cy="4014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Completely separated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435769" y="2472407"/>
            <a:ext cx="2068116" cy="4014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Policy Changes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2503884" y="2472407"/>
            <a:ext cx="3102173" cy="4014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Modify multiple classes across codebase</a:t>
            </a:r>
            <a:endParaRPr lang="en-US" sz="942" dirty="0"/>
          </a:p>
        </p:txBody>
      </p:sp>
      <p:sp>
        <p:nvSpPr>
          <p:cNvPr id="20" name="Text 17"/>
          <p:cNvSpPr/>
          <p:nvPr/>
        </p:nvSpPr>
        <p:spPr>
          <a:xfrm>
            <a:off x="5606058" y="2472407"/>
            <a:ext cx="3102173" cy="401473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only the Aspect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435769" y="2873880"/>
            <a:ext cx="2068116" cy="581490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Scattering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2503884" y="2873880"/>
            <a:ext cx="3102173" cy="581490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code repeated in every relevant method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5606058" y="2873880"/>
            <a:ext cx="3102173" cy="581490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Pointcut covers all methods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435769" y="3455370"/>
            <a:ext cx="2068116" cy="39432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Pluggability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2503884" y="3455370"/>
            <a:ext cx="3102173" cy="39432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Requires modifying source code</a:t>
            </a:r>
            <a:endParaRPr lang="en-US" sz="942" dirty="0"/>
          </a:p>
        </p:txBody>
      </p:sp>
      <p:sp>
        <p:nvSpPr>
          <p:cNvPr id="26" name="Text 23"/>
          <p:cNvSpPr/>
          <p:nvPr/>
        </p:nvSpPr>
        <p:spPr>
          <a:xfrm>
            <a:off x="5606058" y="3455370"/>
            <a:ext cx="3102173" cy="394329"/>
          </a:xfrm>
          <a:prstGeom prst="rect">
            <a:avLst/>
          </a:prstGeom>
          <a:noFill/>
          <a:ln/>
        </p:spPr>
        <p:txBody>
          <a:bodyPr wrap="square" lIns="170053" tIns="127508" rIns="170053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Add/remove by changing Aspect config</a:t>
            </a:r>
            <a:endParaRPr lang="en-US" sz="942" dirty="0"/>
          </a:p>
        </p:txBody>
      </p:sp>
      <p:sp>
        <p:nvSpPr>
          <p:cNvPr id="27" name="Shape 24"/>
          <p:cNvSpPr/>
          <p:nvPr/>
        </p:nvSpPr>
        <p:spPr>
          <a:xfrm>
            <a:off x="428625" y="4157663"/>
            <a:ext cx="8286750" cy="700088"/>
          </a:xfrm>
          <a:prstGeom prst="rect">
            <a:avLst/>
          </a:prstGeom>
          <a:solidFill>
            <a:srgbClr val="D73A49">
              <a:alpha val="5000"/>
            </a:srgbClr>
          </a:solidFill>
          <a:ln w="18288">
            <a:solidFill>
              <a:srgbClr val="D73A4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1500" y="4329113"/>
            <a:ext cx="1519833" cy="239316"/>
          </a:xfrm>
          <a:prstGeom prst="rect">
            <a:avLst/>
          </a:prstGeom>
          <a:solidFill>
            <a:srgbClr val="D73A49"/>
          </a:solidFill>
          <a:ln/>
        </p:spPr>
      </p:sp>
      <p:sp>
        <p:nvSpPr>
          <p:cNvPr id="29" name="Text 26"/>
          <p:cNvSpPr/>
          <p:nvPr/>
        </p:nvSpPr>
        <p:spPr>
          <a:xfrm>
            <a:off x="571500" y="4329113"/>
            <a:ext cx="1519833" cy="239316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IMPORTANT CAUTION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2234208" y="4329113"/>
            <a:ext cx="633829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AOP can make debugging harder because behavior happens "behind the scenes." Clear naming of Aspects and Pointcuts is the most critical factor for AOP maintainability.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147"/>
            <a:ext cx="9144000" cy="55542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113514" cy="385763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Five Evidence-Based Principles Every Developer Should Apply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1028700"/>
            <a:ext cx="4036219" cy="1396603"/>
          </a:xfrm>
          <a:prstGeom prst="rect">
            <a:avLst/>
          </a:prstGeom>
          <a:solidFill>
            <a:srgbClr val="FCFCFC"/>
          </a:solidFill>
          <a:ln w="9144">
            <a:solidFill>
              <a:srgbClr val="0366D6"/>
            </a:solidFill>
            <a:prstDash val="dash"/>
          </a:ln>
        </p:spPr>
      </p:sp>
      <p:sp>
        <p:nvSpPr>
          <p:cNvPr id="5" name="Text 2"/>
          <p:cNvSpPr/>
          <p:nvPr/>
        </p:nvSpPr>
        <p:spPr>
          <a:xfrm>
            <a:off x="571500" y="1171575"/>
            <a:ext cx="375046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28A745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01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1585913"/>
            <a:ext cx="375046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Are Context-Dependent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71500" y="1846659"/>
            <a:ext cx="375046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patterns based on system size, long-term goals, and specific axes of change — not just because they're well-known.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4679156" y="1028700"/>
            <a:ext cx="4036219" cy="1396603"/>
          </a:xfrm>
          <a:prstGeom prst="rect">
            <a:avLst/>
          </a:prstGeom>
          <a:solidFill>
            <a:srgbClr val="FCFCFC"/>
          </a:solidFill>
          <a:ln w="9144">
            <a:solidFill>
              <a:srgbClr val="0366D6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822031" y="1171575"/>
            <a:ext cx="375046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28A745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02</a:t>
            </a:r>
            <a:endParaRPr lang="en-US" sz="2436" dirty="0"/>
          </a:p>
        </p:txBody>
      </p:sp>
      <p:sp>
        <p:nvSpPr>
          <p:cNvPr id="10" name="Text 7"/>
          <p:cNvSpPr/>
          <p:nvPr/>
        </p:nvSpPr>
        <p:spPr>
          <a:xfrm>
            <a:off x="4822031" y="1585913"/>
            <a:ext cx="375046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Before You Commit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4822031" y="1846659"/>
            <a:ext cx="375046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objective metrics (DIT, NOC, MPC) to predict pattern impact. Avoid "pattern fever" — applying patterns for their own sake.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428625" y="2573535"/>
            <a:ext cx="4036219" cy="1396603"/>
          </a:xfrm>
          <a:prstGeom prst="rect">
            <a:avLst/>
          </a:prstGeom>
          <a:solidFill>
            <a:srgbClr val="FCFCFC"/>
          </a:solidFill>
          <a:ln w="9144">
            <a:solidFill>
              <a:srgbClr val="0366D6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71500" y="2723900"/>
            <a:ext cx="375046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28A745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03</a:t>
            </a:r>
            <a:endParaRPr lang="en-US" sz="2436" dirty="0"/>
          </a:p>
        </p:txBody>
      </p:sp>
      <p:sp>
        <p:nvSpPr>
          <p:cNvPr id="14" name="Text 11"/>
          <p:cNvSpPr/>
          <p:nvPr/>
        </p:nvSpPr>
        <p:spPr>
          <a:xfrm>
            <a:off x="571500" y="3138237"/>
            <a:ext cx="375046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Your Intent Explicitly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571500" y="3398984"/>
            <a:ext cx="375046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simple comment identifying the pattern reduces maintenance time significantly. Clean code alone is not enough.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4679155" y="2573535"/>
            <a:ext cx="4036219" cy="1396603"/>
          </a:xfrm>
          <a:prstGeom prst="rect">
            <a:avLst/>
          </a:prstGeom>
          <a:solidFill>
            <a:srgbClr val="FCFCFC"/>
          </a:solidFill>
          <a:ln w="9144">
            <a:solidFill>
              <a:srgbClr val="0366D6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4822031" y="2717726"/>
            <a:ext cx="375046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28A745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04</a:t>
            </a:r>
            <a:endParaRPr lang="en-US" sz="2436" dirty="0"/>
          </a:p>
        </p:txBody>
      </p:sp>
      <p:sp>
        <p:nvSpPr>
          <p:cNvPr id="18" name="Text 15"/>
          <p:cNvSpPr/>
          <p:nvPr/>
        </p:nvSpPr>
        <p:spPr>
          <a:xfrm>
            <a:off x="4822031" y="3132063"/>
            <a:ext cx="375046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 in Developer Education</a:t>
            </a:r>
            <a:endParaRPr lang="en-US" sz="1090" dirty="0"/>
          </a:p>
        </p:txBody>
      </p:sp>
      <p:sp>
        <p:nvSpPr>
          <p:cNvPr id="19" name="Text 16"/>
          <p:cNvSpPr/>
          <p:nvPr/>
        </p:nvSpPr>
        <p:spPr>
          <a:xfrm>
            <a:off x="4822031" y="3392810"/>
            <a:ext cx="375046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human factor is the strongest predictor of pattern success. Training and code review processes are non-negotiable.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428624" y="4140806"/>
            <a:ext cx="8286750" cy="1002694"/>
          </a:xfrm>
          <a:prstGeom prst="rect">
            <a:avLst/>
          </a:prstGeom>
          <a:solidFill>
            <a:srgbClr val="FCFCFC"/>
          </a:solidFill>
          <a:ln w="9144">
            <a:solidFill>
              <a:srgbClr val="0366D6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71500" y="4473773"/>
            <a:ext cx="55006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294" b="1" dirty="0">
                <a:solidFill>
                  <a:srgbClr val="28A745">
                    <a:alpha val="8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05</a:t>
            </a:r>
            <a:endParaRPr lang="en-US" sz="3294" dirty="0"/>
          </a:p>
        </p:txBody>
      </p:sp>
      <p:sp>
        <p:nvSpPr>
          <p:cNvPr id="22" name="Text 19"/>
          <p:cNvSpPr/>
          <p:nvPr/>
        </p:nvSpPr>
        <p:spPr>
          <a:xfrm>
            <a:off x="1335881" y="4379118"/>
            <a:ext cx="723661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 AOP for Cross-Cutting Concerns</a:t>
            </a:r>
            <a:endParaRPr lang="en-US" sz="1090" dirty="0"/>
          </a:p>
        </p:txBody>
      </p:sp>
      <p:sp>
        <p:nvSpPr>
          <p:cNvPr id="23" name="Text 20"/>
          <p:cNvSpPr/>
          <p:nvPr/>
        </p:nvSpPr>
        <p:spPr>
          <a:xfrm>
            <a:off x="1335881" y="4639865"/>
            <a:ext cx="723661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large systems with behavioral patterns, AOP can deliver cleaner separation of concerns than traditional OOP — but document Aspects thoroughly.</a:t>
            </a:r>
            <a:endParaRPr lang="en-US" sz="94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800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Contradictory Findings Reveal That Software Engineering Research Still Has Open Questions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322989"/>
            <a:ext cx="828675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Despite 18+ years of study, key questions remain unresolved:</a:t>
            </a:r>
            <a:endParaRPr lang="en-US" sz="1090" dirty="0"/>
          </a:p>
        </p:txBody>
      </p:sp>
      <p:sp>
        <p:nvSpPr>
          <p:cNvPr id="5" name="Shape 2"/>
          <p:cNvSpPr/>
          <p:nvPr/>
        </p:nvSpPr>
        <p:spPr>
          <a:xfrm>
            <a:off x="428625" y="1701608"/>
            <a:ext cx="4071938" cy="1028002"/>
          </a:xfrm>
          <a:prstGeom prst="rect">
            <a:avLst/>
          </a:prstGeom>
          <a:solidFill>
            <a:srgbClr val="FCFCFC"/>
          </a:solidFill>
          <a:ln w="9144">
            <a:solidFill>
              <a:srgbClr val="0366D6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571500" y="1844483"/>
            <a:ext cx="3786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Fault-proneness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2103444"/>
            <a:ext cx="3786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consensus on whether pattern-participating classes are more or less bug-prone than non-participating ones.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4643438" y="1701608"/>
            <a:ext cx="4071938" cy="1028002"/>
          </a:xfrm>
          <a:prstGeom prst="rect">
            <a:avLst/>
          </a:prstGeom>
          <a:solidFill>
            <a:srgbClr val="FCFCFC"/>
          </a:solidFill>
          <a:ln w="9144">
            <a:solidFill>
              <a:srgbClr val="0366D6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786313" y="1844483"/>
            <a:ext cx="3786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Metric standardization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786313" y="2103444"/>
            <a:ext cx="3786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field lacks unified quality metrics, making cross-study comparison unreliable.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428625" y="2865341"/>
            <a:ext cx="4071938" cy="1035146"/>
          </a:xfrm>
          <a:prstGeom prst="rect">
            <a:avLst/>
          </a:prstGeom>
          <a:solidFill>
            <a:srgbClr val="FCFCFC"/>
          </a:solidFill>
          <a:ln w="9144">
            <a:solidFill>
              <a:srgbClr val="0366D6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571500" y="3008216"/>
            <a:ext cx="3786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AOP at scale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571500" y="3267177"/>
            <a:ext cx="3786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promising, AOP's impact on large enterprise systems is still under-researched.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4643438" y="2865341"/>
            <a:ext cx="4071938" cy="1035146"/>
          </a:xfrm>
          <a:prstGeom prst="rect">
            <a:avLst/>
          </a:prstGeom>
          <a:solidFill>
            <a:srgbClr val="FCFCFC"/>
          </a:solidFill>
          <a:ln w="9144">
            <a:solidFill>
              <a:srgbClr val="0366D6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4786313" y="3015360"/>
            <a:ext cx="37861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Modern languages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4786313" y="3274321"/>
            <a:ext cx="378618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860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studies focus on Java/C++. Pattern impact in Python, JavaScript, and functional languages is less studied.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428625" y="4114800"/>
            <a:ext cx="8286750" cy="742950"/>
          </a:xfrm>
          <a:prstGeom prst="rect">
            <a:avLst/>
          </a:prstGeom>
          <a:solidFill>
            <a:srgbClr val="28A745">
              <a:alpha val="5000"/>
            </a:srgbClr>
          </a:solidFill>
          <a:ln w="18288">
            <a:solidFill>
              <a:srgbClr val="28A74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1500" y="4286250"/>
            <a:ext cx="1135856" cy="239316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" y="4286250"/>
            <a:ext cx="1135856" cy="239316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TAKEAWAY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1850231" y="4286250"/>
            <a:ext cx="67222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examine </a:t>
            </a:r>
            <a:r>
              <a:rPr lang="en-US" sz="1050" i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</a:t>
            </a: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quality was measured in any study you cite. Context, metrics, and implementation style all shape the conclusion.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800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602" b="1" dirty="0">
                <a:solidFill>
                  <a:srgbClr val="24292E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The Evidence Is Clear: Patterns Work Best When Applied with Expertise, Context, and Documentation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1322989"/>
            <a:ext cx="4000500" cy="2537817"/>
          </a:xfrm>
          <a:prstGeom prst="rect">
            <a:avLst/>
          </a:prstGeom>
          <a:solidFill>
            <a:srgbClr val="FCFCFC"/>
          </a:solidFill>
          <a:ln w="9144">
            <a:solidFill>
              <a:srgbClr val="0366D6"/>
            </a:solidFill>
            <a:prstDash val="dash"/>
          </a:ln>
        </p:spPr>
      </p:sp>
      <p:sp>
        <p:nvSpPr>
          <p:cNvPr id="5" name="Text 2"/>
          <p:cNvSpPr/>
          <p:nvPr/>
        </p:nvSpPr>
        <p:spPr>
          <a:xfrm>
            <a:off x="557213" y="1451577"/>
            <a:ext cx="1885950" cy="26610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366D6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SUMMARY OF FINDINGS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57213" y="1803406"/>
            <a:ext cx="3736181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patterns are a proven strategic tool for improving code quality — but they are </a:t>
            </a:r>
            <a:r>
              <a:rPr lang="en-US" sz="987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 silver bullet</a:t>
            </a: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Their effectiveness depends on developer expertise, appropriate application, system context, and explicit documentation of intent.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57213" y="3032131"/>
            <a:ext cx="373618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emergence of </a:t>
            </a:r>
            <a:r>
              <a:rPr lang="en-US" sz="987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AOP</a:t>
            </a: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represents the next evolution in pattern implementation, offering superior decoupling and cleaner code for complex systems.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07731" y="1322989"/>
            <a:ext cx="4007644" cy="2523530"/>
          </a:xfrm>
          <a:prstGeom prst="rect">
            <a:avLst/>
          </a:prstGeom>
          <a:solidFill>
            <a:srgbClr val="FCFCFC"/>
          </a:solidFill>
          <a:ln w="9144">
            <a:solidFill>
              <a:srgbClr val="28A745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843463" y="1451577"/>
            <a:ext cx="1971675" cy="266105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8A745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FINAL RECOMMENDATION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4843463" y="1803406"/>
            <a:ext cx="3743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Treat design patterns as a </a:t>
            </a:r>
            <a:r>
              <a:rPr lang="en-US" sz="987" b="1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framework</a:t>
            </a: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a recipe.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843463" y="2346331"/>
            <a:ext cx="3743325" cy="6858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 Use metrics to validate
&gt; Document to communicate
&gt; Invest in team expertise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43463" y="3117856"/>
            <a:ext cx="37433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242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Maximize the return on pattern-based design by applying these evidence-based principles.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28625" y="4226254"/>
            <a:ext cx="8286750" cy="845809"/>
          </a:xfrm>
          <a:prstGeom prst="rect">
            <a:avLst/>
          </a:prstGeom>
          <a:solidFill>
            <a:srgbClr val="24292E"/>
          </a:solidFill>
          <a:ln/>
        </p:spPr>
      </p:sp>
      <p:sp>
        <p:nvSpPr>
          <p:cNvPr id="14" name="Shape 11"/>
          <p:cNvSpPr/>
          <p:nvPr/>
        </p:nvSpPr>
        <p:spPr>
          <a:xfrm>
            <a:off x="428625" y="4226254"/>
            <a:ext cx="57150" cy="845809"/>
          </a:xfrm>
          <a:prstGeom prst="rect">
            <a:avLst/>
          </a:prstGeom>
          <a:solidFill>
            <a:srgbClr val="0366D6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4154816"/>
            <a:ext cx="3429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4410" dirty="0">
                <a:solidFill>
                  <a:srgbClr val="0366D6">
                    <a:alpha val="30000"/>
                  </a:srgbClr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"</a:t>
            </a:r>
            <a:endParaRPr lang="en-US" sz="4410" dirty="0"/>
          </a:p>
        </p:txBody>
      </p:sp>
      <p:sp>
        <p:nvSpPr>
          <p:cNvPr id="16" name="Text 13"/>
          <p:cNvSpPr/>
          <p:nvPr/>
        </p:nvSpPr>
        <p:spPr>
          <a:xfrm>
            <a:off x="642938" y="4369129"/>
            <a:ext cx="785812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97" b="1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goal is not to use patterns — it is to build software that is robust, maintainable, and understandable by the humans who will work on it next.</a:t>
            </a:r>
            <a:endParaRPr lang="en-US" sz="139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1519</Words>
  <Application>Microsoft Macintosh PowerPoint</Application>
  <PresentationFormat>On-screen Show (16:9)</PresentationFormat>
  <Paragraphs>187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Inter</vt:lpstr>
      <vt:lpstr>Arial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soonphei tin</cp:lastModifiedBy>
  <cp:revision>4</cp:revision>
  <dcterms:created xsi:type="dcterms:W3CDTF">2026-03-25T13:40:07Z</dcterms:created>
  <dcterms:modified xsi:type="dcterms:W3CDTF">2026-03-25T14:11:10Z</dcterms:modified>
</cp:coreProperties>
</file>